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oilgas_pptx/title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09160"/>
            <a:ext cx="12188952" cy="2148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709160"/>
            <a:ext cx="12188952" cy="2148840"/>
          </a:xfrm>
          <a:prstGeom prst="rect">
            <a:avLst/>
          </a:prstGeom>
          <a:solidFill>
            <a:srgbClr val="0A120E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NIGERIAN UPSTREAM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&amp; GAS PERFORMANCE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2724912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Pivot Validation &amp; Power BI Dashboard Design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D4A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  •   OPERATIONS   •   FINANCIAL   •   ENVIRONMENTAL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Gabriel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targe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0A120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88720"/>
            <a:ext cx="106344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Nigerian upstream oil &amp; gas operators improve production efficiency and revenue while minimizing operational downtime, production losses, operating costs, and gas flaring?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2788920"/>
            <a:ext cx="2053742" cy="1554480"/>
          </a:xfrm>
          <a:prstGeom prst="roundRect">
            <a:avLst>
              <a:gd name="adj" fmla="val 4706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2047" y="2971800"/>
            <a:ext cx="475488" cy="475488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9" name="Text 6"/>
          <p:cNvSpPr/>
          <p:nvPr/>
        </p:nvSpPr>
        <p:spPr>
          <a:xfrm>
            <a:off x="1292047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6072" y="3566160"/>
            <a:ext cx="19074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56662" y="278892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85262" y="2788920"/>
            <a:ext cx="2053742" cy="1554480"/>
          </a:xfrm>
          <a:prstGeom prst="roundRect">
            <a:avLst>
              <a:gd name="adj" fmla="val 4706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74390" y="2971800"/>
            <a:ext cx="475488" cy="475488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14" name="Text 11"/>
          <p:cNvSpPr/>
          <p:nvPr/>
        </p:nvSpPr>
        <p:spPr>
          <a:xfrm>
            <a:off x="3574390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58414" y="3566160"/>
            <a:ext cx="19074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39005" y="278892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67605" y="2788920"/>
            <a:ext cx="2053742" cy="1554480"/>
          </a:xfrm>
          <a:prstGeom prst="roundRect">
            <a:avLst>
              <a:gd name="adj" fmla="val 4706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6732" y="2971800"/>
            <a:ext cx="475488" cy="475488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19" name="Text 16"/>
          <p:cNvSpPr/>
          <p:nvPr/>
        </p:nvSpPr>
        <p:spPr>
          <a:xfrm>
            <a:off x="5856732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40757" y="3566160"/>
            <a:ext cx="19074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121347" y="278892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49947" y="2788920"/>
            <a:ext cx="2053742" cy="1554480"/>
          </a:xfrm>
          <a:prstGeom prst="roundRect">
            <a:avLst>
              <a:gd name="adj" fmla="val 4706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39074" y="2971800"/>
            <a:ext cx="475488" cy="475488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24" name="Text 21"/>
          <p:cNvSpPr/>
          <p:nvPr/>
        </p:nvSpPr>
        <p:spPr>
          <a:xfrm>
            <a:off x="8139074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23099" y="3566160"/>
            <a:ext cx="19074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403690" y="2788920"/>
            <a:ext cx="228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632290" y="2788920"/>
            <a:ext cx="2053742" cy="1554480"/>
          </a:xfrm>
          <a:prstGeom prst="roundRect">
            <a:avLst>
              <a:gd name="adj" fmla="val 4706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21417" y="2971800"/>
            <a:ext cx="475488" cy="475488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29" name="Text 26"/>
          <p:cNvSpPr/>
          <p:nvPr/>
        </p:nvSpPr>
        <p:spPr>
          <a:xfrm>
            <a:off x="10421417" y="2971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05442" y="3566160"/>
            <a:ext cx="190743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02920" y="470916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Production performance, Operations &amp; downtime, Financial performance, and Environmental performance (gas flaring).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02920" y="539496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F6F1E3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5394960"/>
            <a:ext cx="106344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 Nigerian upstream oil &amp; gas operations dataset covering ten operators, twelve oil fields, and monthly production, revenue, and downtime records, cleaned and analyzed end-to-end in Excel and Power BI.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help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6F1E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344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554480" y="1234440"/>
            <a:ext cx="9948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operators and oil fields contribute the most to total crude oil production?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313432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6F1E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313432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554480" y="2313432"/>
            <a:ext cx="9948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operational issues are responsible for the highest downtime?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392424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6F1E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39242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554480" y="3392424"/>
            <a:ext cx="9948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operators generate the highest estimated revenue?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471416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6F1E3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47141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554480" y="4471416"/>
            <a:ext cx="9948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operators produce the most gas?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02920" y="5623560"/>
            <a:ext cx="2624328" cy="502920"/>
          </a:xfrm>
          <a:prstGeom prst="roundRect">
            <a:avLst>
              <a:gd name="adj" fmla="val 49091"/>
            </a:avLst>
          </a:prstGeom>
          <a:solidFill>
            <a:srgbClr val="0A120E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562356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355848" y="5623560"/>
            <a:ext cx="2624328" cy="502920"/>
          </a:xfrm>
          <a:prstGeom prst="roundRect">
            <a:avLst>
              <a:gd name="adj" fmla="val 49091"/>
            </a:avLst>
          </a:prstGeom>
          <a:solidFill>
            <a:srgbClr val="0A120E"/>
          </a:solidFill>
          <a:ln/>
        </p:spPr>
      </p:sp>
      <p:sp>
        <p:nvSpPr>
          <p:cNvPr id="20" name="Text 17"/>
          <p:cNvSpPr/>
          <p:nvPr/>
        </p:nvSpPr>
        <p:spPr>
          <a:xfrm>
            <a:off x="3355848" y="562356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08776" y="5623560"/>
            <a:ext cx="2624328" cy="502920"/>
          </a:xfrm>
          <a:prstGeom prst="roundRect">
            <a:avLst>
              <a:gd name="adj" fmla="val 49091"/>
            </a:avLst>
          </a:prstGeom>
          <a:solidFill>
            <a:srgbClr val="0A120E"/>
          </a:solidFill>
          <a:ln/>
        </p:spPr>
      </p:sp>
      <p:sp>
        <p:nvSpPr>
          <p:cNvPr id="22" name="Text 19"/>
          <p:cNvSpPr/>
          <p:nvPr/>
        </p:nvSpPr>
        <p:spPr>
          <a:xfrm>
            <a:off x="6208776" y="562356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061704" y="5623560"/>
            <a:ext cx="2624328" cy="502920"/>
          </a:xfrm>
          <a:prstGeom prst="roundRect">
            <a:avLst>
              <a:gd name="adj" fmla="val 49091"/>
            </a:avLst>
          </a:prstGeom>
          <a:solidFill>
            <a:srgbClr val="0A120E"/>
          </a:solidFill>
          <a:ln/>
        </p:spPr>
      </p:sp>
      <p:sp>
        <p:nvSpPr>
          <p:cNvPr id="24" name="Text 21"/>
          <p:cNvSpPr/>
          <p:nvPr/>
        </p:nvSpPr>
        <p:spPr>
          <a:xfrm>
            <a:off x="9061704" y="5623560"/>
            <a:ext cx="2624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databas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in Excel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2590038" cy="3520440"/>
          </a:xfrm>
          <a:prstGeom prst="roundRect">
            <a:avLst>
              <a:gd name="adj" fmla="val 2824"/>
            </a:avLst>
          </a:prstGeom>
          <a:solidFill>
            <a:srgbClr val="F6F1E3"/>
          </a:solidFill>
          <a:ln/>
        </p:spPr>
      </p:sp>
      <p:sp>
        <p:nvSpPr>
          <p:cNvPr id="6" name="Shape 3"/>
          <p:cNvSpPr/>
          <p:nvPr/>
        </p:nvSpPr>
        <p:spPr>
          <a:xfrm>
            <a:off x="1541907" y="1627632"/>
            <a:ext cx="512064" cy="512064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7" name="Text 4"/>
          <p:cNvSpPr/>
          <p:nvPr/>
        </p:nvSpPr>
        <p:spPr>
          <a:xfrm>
            <a:off x="1541907" y="1627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Raw_Data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2242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original, messy operator-level dataset — inconsistent naming and unstructured fields, unfit for direct analysis.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7278" y="1371600"/>
            <a:ext cx="2590038" cy="3520440"/>
          </a:xfrm>
          <a:prstGeom prst="roundRect">
            <a:avLst>
              <a:gd name="adj" fmla="val 2824"/>
            </a:avLst>
          </a:prstGeom>
          <a:solidFill>
            <a:srgbClr val="F6F1E3"/>
          </a:solidFill>
          <a:ln/>
        </p:spPr>
      </p:sp>
      <p:sp>
        <p:nvSpPr>
          <p:cNvPr id="11" name="Shape 8"/>
          <p:cNvSpPr/>
          <p:nvPr/>
        </p:nvSpPr>
        <p:spPr>
          <a:xfrm>
            <a:off x="4406265" y="1627632"/>
            <a:ext cx="512064" cy="512064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12" name="Text 9"/>
          <p:cNvSpPr/>
          <p:nvPr/>
        </p:nvSpPr>
        <p:spPr>
          <a:xfrm>
            <a:off x="4406265" y="1627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04438" y="228600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Cleaning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50158" y="2834640"/>
            <a:ext cx="22242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and standardized the data — correcting field names, structuring columns, and preparing consistent numeric types for every operator and oil field.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31636" y="1371600"/>
            <a:ext cx="2590038" cy="3520440"/>
          </a:xfrm>
          <a:prstGeom prst="roundRect">
            <a:avLst>
              <a:gd name="adj" fmla="val 2824"/>
            </a:avLst>
          </a:prstGeom>
          <a:solidFill>
            <a:srgbClr val="0A120E"/>
          </a:solidFill>
          <a:ln/>
        </p:spPr>
      </p:sp>
      <p:sp>
        <p:nvSpPr>
          <p:cNvPr id="16" name="Shape 13"/>
          <p:cNvSpPr/>
          <p:nvPr/>
        </p:nvSpPr>
        <p:spPr>
          <a:xfrm>
            <a:off x="7270623" y="1627632"/>
            <a:ext cx="512064" cy="512064"/>
          </a:xfrm>
          <a:prstGeom prst="ellipse">
            <a:avLst/>
          </a:prstGeom>
          <a:solidFill>
            <a:srgbClr val="D4A82C"/>
          </a:solidFill>
          <a:ln/>
        </p:spPr>
      </p:sp>
      <p:sp>
        <p:nvSpPr>
          <p:cNvPr id="17" name="Text 14"/>
          <p:cNvSpPr/>
          <p:nvPr/>
        </p:nvSpPr>
        <p:spPr>
          <a:xfrm>
            <a:off x="7270623" y="1627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68796" y="228600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Dataset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14516" y="2834640"/>
            <a:ext cx="22242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reliable table — one row per record, ready for aggregation without distorting totals.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095994" y="1371600"/>
            <a:ext cx="2590038" cy="3520440"/>
          </a:xfrm>
          <a:prstGeom prst="roundRect">
            <a:avLst>
              <a:gd name="adj" fmla="val 2824"/>
            </a:avLst>
          </a:prstGeom>
          <a:solidFill>
            <a:srgbClr val="F6F1E3"/>
          </a:solidFill>
          <a:ln/>
        </p:spPr>
      </p:sp>
      <p:sp>
        <p:nvSpPr>
          <p:cNvPr id="21" name="Shape 18"/>
          <p:cNvSpPr/>
          <p:nvPr/>
        </p:nvSpPr>
        <p:spPr>
          <a:xfrm>
            <a:off x="10134981" y="1627632"/>
            <a:ext cx="512064" cy="512064"/>
          </a:xfrm>
          <a:prstGeom prst="ellipse">
            <a:avLst/>
          </a:prstGeom>
          <a:solidFill>
            <a:srgbClr val="0A120E"/>
          </a:solidFill>
          <a:ln/>
        </p:spPr>
      </p:sp>
      <p:sp>
        <p:nvSpPr>
          <p:cNvPr id="22" name="Text 19"/>
          <p:cNvSpPr/>
          <p:nvPr/>
        </p:nvSpPr>
        <p:spPr>
          <a:xfrm>
            <a:off x="10134981" y="16276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233154" y="228600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Table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278874" y="2834640"/>
            <a:ext cx="22242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KPI totals for oil production, revenue, gas production, and downtime by operational status before building the dashboard.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51663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with Power Query for cleaning and pivot-based validation, and Power BI for interactive visualization.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bar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Key Performance Indicators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2555748" cy="2834640"/>
          </a:xfrm>
          <a:prstGeom prst="roundRect">
            <a:avLst>
              <a:gd name="adj" fmla="val 3578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pic>
        <p:nvPicPr>
          <p:cNvPr id="6" name="Image 1" descr="/home/claude/oilgas_pptx/icons/oil_productio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46" y="1874520"/>
            <a:ext cx="768096" cy="768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2880360"/>
            <a:ext cx="23728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99.68M bbl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94360" y="3520440"/>
            <a:ext cx="2372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Oil Production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378708" y="1554480"/>
            <a:ext cx="2555748" cy="2834640"/>
          </a:xfrm>
          <a:prstGeom prst="roundRect">
            <a:avLst>
              <a:gd name="adj" fmla="val 3578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pic>
        <p:nvPicPr>
          <p:cNvPr id="10" name="Image 2" descr="/home/claude/oilgas_pptx/icons/total_revenu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534" y="1874520"/>
            <a:ext cx="768096" cy="7680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0148" y="2880360"/>
            <a:ext cx="23728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₦7.93bn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3470148" y="3520440"/>
            <a:ext cx="2372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254496" y="1554480"/>
            <a:ext cx="2555748" cy="2834640"/>
          </a:xfrm>
          <a:prstGeom prst="roundRect">
            <a:avLst>
              <a:gd name="adj" fmla="val 3578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pic>
        <p:nvPicPr>
          <p:cNvPr id="14" name="Image 3" descr="/home/claude/oilgas_pptx/icons/gas_production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322" y="1874520"/>
            <a:ext cx="768096" cy="7680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45936" y="2880360"/>
            <a:ext cx="23728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175.63M Mscf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345936" y="3520440"/>
            <a:ext cx="2372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Gas Production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130284" y="1554480"/>
            <a:ext cx="2555748" cy="2834640"/>
          </a:xfrm>
          <a:prstGeom prst="roundRect">
            <a:avLst>
              <a:gd name="adj" fmla="val 3578"/>
            </a:avLst>
          </a:prstGeom>
          <a:solidFill>
            <a:srgbClr val="F6F1E3"/>
          </a:solidFill>
          <a:ln w="12700">
            <a:solidFill>
              <a:srgbClr val="B8922A"/>
            </a:solidFill>
            <a:prstDash val="solid"/>
          </a:ln>
        </p:spPr>
      </p:sp>
      <p:pic>
        <p:nvPicPr>
          <p:cNvPr id="18" name="Image 4" descr="/home/claude/oilgas_pptx/icons/gas_flare_rat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110" y="1874520"/>
            <a:ext cx="768096" cy="7680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221724" y="2880360"/>
            <a:ext cx="23728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7.62%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9221724" y="3520440"/>
            <a:ext cx="23728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 Rate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02920" y="480060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13.39M Mscf of the gas produced was flared rather than captured — a 7.62% flare rate against total gas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pi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Visual Analysis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312164" y="1161288"/>
            <a:ext cx="9564624" cy="5442798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9050">
            <a:solidFill>
              <a:srgbClr val="B8922A"/>
            </a:solidFill>
            <a:prstDash val="solid"/>
          </a:ln>
        </p:spPr>
      </p:sp>
      <p:pic>
        <p:nvPicPr>
          <p:cNvPr id="6" name="Image 1" descr="/home/claude/oilgas_pptx/dashboard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316" y="1234440"/>
            <a:ext cx="9418320" cy="52964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A120E"/>
          </a:solidFill>
          <a:ln/>
        </p:spPr>
      </p:sp>
      <p:pic>
        <p:nvPicPr>
          <p:cNvPr id="3" name="Image 0" descr="/home/claude/oilgas_pptx/icons/tren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20624"/>
            <a:ext cx="10433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by Focus Area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23444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6F1E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9903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856232"/>
            <a:ext cx="49514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 leads oil production at 11.01M bbl, narrowly ahead of NNPC at 10.91M bbl.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Ogoniland is the top-producing field at 10.45M bbl; Escravos is lowest at 6.70M bbl.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77356" y="123444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6F1E3"/>
          </a:solidFill>
          <a:ln/>
        </p:spPr>
      </p:sp>
      <p:sp>
        <p:nvSpPr>
          <p:cNvPr id="9" name="Text 6"/>
          <p:cNvSpPr/>
          <p:nvPr/>
        </p:nvSpPr>
        <p:spPr>
          <a:xfrm>
            <a:off x="6505956" y="139903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&amp; Downtime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05956" y="1856232"/>
            <a:ext cx="49514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outages cause 5,771 hours of downtime — 37% of all downtime, more than any other cause.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(3,420 hrs) and security incidents (2,632 hrs) are the next-largest contributors.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6F1E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95935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416552"/>
            <a:ext cx="49514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NNPC generates the highest revenue at ₦852.8M, despite Eni producing more oil — pointing to a stronger realized revenue mix.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Totalenergies trails the group on both production and revenue.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77356" y="379476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F6F1E3"/>
          </a:solidFill>
          <a:ln/>
        </p:spPr>
      </p:sp>
      <p:sp>
        <p:nvSpPr>
          <p:cNvPr id="15" name="Text 12"/>
          <p:cNvSpPr/>
          <p:nvPr/>
        </p:nvSpPr>
        <p:spPr>
          <a:xfrm>
            <a:off x="6505956" y="395935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Performance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05956" y="4416552"/>
            <a:ext cx="49514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flare rate stands at 7.62% of total gas production — 13.39M of 175.63M Mscf flared rather than captured.</a:t>
            </a:r>
            <a:endParaRPr lang="en-US" sz="1150" dirty="0"/>
          </a:p>
          <a:p>
            <a:pPr algn="l"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3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NNPC and Eni also lead gas production, making their flaring practices the highest-impact to address.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594360" cy="594360"/>
          </a:xfrm>
          <a:prstGeom prst="ellipse">
            <a:avLst/>
          </a:prstGeom>
          <a:solidFill>
            <a:srgbClr val="D4A82C"/>
          </a:solidFill>
          <a:ln/>
        </p:spPr>
      </p:sp>
      <p:pic>
        <p:nvPicPr>
          <p:cNvPr id="3" name="Image 0" descr="/home/claude/oilgas_pptx/icons/che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" y="645566"/>
            <a:ext cx="309067" cy="309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99032"/>
            <a:ext cx="365760" cy="365760"/>
          </a:xfrm>
          <a:prstGeom prst="ellipse">
            <a:avLst/>
          </a:prstGeom>
          <a:solidFill>
            <a:srgbClr val="1C2B21"/>
          </a:solidFill>
          <a:ln/>
        </p:spPr>
      </p:sp>
      <p:pic>
        <p:nvPicPr>
          <p:cNvPr id="6" name="Image 1" descr="/home/claude/oilgas_pptx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1486814"/>
            <a:ext cx="190195" cy="1901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371600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pipeline integrity: outages drive 37% of downtime — targeted monitoring and preventive maintenance offers the single largest efficiency gain.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1C2B21"/>
          </a:solidFill>
          <a:ln/>
        </p:spPr>
      </p:sp>
      <p:pic>
        <p:nvPicPr>
          <p:cNvPr id="9" name="Image 2" descr="/home/claude/oilgas_pptx/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" y="2328062"/>
            <a:ext cx="190195" cy="1901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212848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replicate NNPC and Eni's operating practices, the top performers on production, revenue, and gas output, across lower-performing operators.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02920" y="3081528"/>
            <a:ext cx="365760" cy="365760"/>
          </a:xfrm>
          <a:prstGeom prst="ellipse">
            <a:avLst/>
          </a:prstGeom>
          <a:solidFill>
            <a:srgbClr val="1C2B21"/>
          </a:solidFill>
          <a:ln/>
        </p:spPr>
      </p:sp>
      <p:pic>
        <p:nvPicPr>
          <p:cNvPr id="12" name="Image 3" descr="/home/claude/oilgas_pptx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" y="3169310"/>
            <a:ext cx="190195" cy="1901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054096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gas capture infrastructure to bring the 7.62% flare rate down, starting with NNPC and Eni given their production scale.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502920" y="3922776"/>
            <a:ext cx="365760" cy="365760"/>
          </a:xfrm>
          <a:prstGeom prst="ellipse">
            <a:avLst/>
          </a:prstGeom>
          <a:solidFill>
            <a:srgbClr val="1C2B21"/>
          </a:solidFill>
          <a:ln/>
        </p:spPr>
      </p:sp>
      <p:pic>
        <p:nvPicPr>
          <p:cNvPr id="15" name="Image 4" descr="/home/claude/oilgas_pptx/icons/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" y="4010558"/>
            <a:ext cx="190195" cy="1901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51560" y="3895344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underperforming fields such as Escravos and Bonga for cost-effective recovery techniques or reallocated investment.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502920" y="4764024"/>
            <a:ext cx="365760" cy="365760"/>
          </a:xfrm>
          <a:prstGeom prst="ellipse">
            <a:avLst/>
          </a:prstGeom>
          <a:solidFill>
            <a:srgbClr val="1C2B21"/>
          </a:solidFill>
          <a:ln/>
        </p:spPr>
      </p:sp>
      <p:pic>
        <p:nvPicPr>
          <p:cNvPr id="18" name="Image 5" descr="/home/claude/oilgas_pptx/icons/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" y="4851806"/>
            <a:ext cx="190195" cy="19019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473659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revenue-per-barrel by operator, not just volume — NNPC's revenue lead despite lower output than Eni signals monetization gaps worth closing.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457200" y="61722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2026-08-31T23:39:22Z</dcterms:created>
  <dcterms:modified xsi:type="dcterms:W3CDTF">2026-08-31T23:39:22Z</dcterms:modified>
</cp:coreProperties>
</file>